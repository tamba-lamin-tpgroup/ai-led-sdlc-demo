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1430000" cy="6429375"/>
  <p:notesSz cx="6429375" cy="1143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36"/>
    <p:restoredTop sz="94610"/>
  </p:normalViewPr>
  <p:slideViewPr>
    <p:cSldViewPr snapToGrid="0" snapToObjects="1">
      <p:cViewPr>
        <p:scale>
          <a:sx n="75" d="100"/>
          <a:sy n="75" d="100"/>
        </p:scale>
        <p:origin x="4128" y="1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689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e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0">
            <a:extLst>
              <a:ext uri="{FF2B5EF4-FFF2-40B4-BE49-F238E27FC236}">
                <a16:creationId xmlns:a16="http://schemas.microsoft.com/office/drawing/2014/main" id="{F7A6DFF3-E075-D940-D0E4-E81BB6B334ED}"/>
              </a:ext>
            </a:extLst>
          </p:cNvPr>
          <p:cNvSpPr/>
          <p:nvPr/>
        </p:nvSpPr>
        <p:spPr>
          <a:xfrm>
            <a:off x="-4001117" y="2"/>
            <a:ext cx="18290822" cy="102885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2880"/>
          </a:p>
        </p:txBody>
      </p:sp>
      <p:pic>
        <p:nvPicPr>
          <p:cNvPr id="59" name="Image 0" descr="preencoded.png">
            <a:extLst>
              <a:ext uri="{FF2B5EF4-FFF2-40B4-BE49-F238E27FC236}">
                <a16:creationId xmlns:a16="http://schemas.microsoft.com/office/drawing/2014/main" id="{45C91E75-9EF7-B47D-5959-5E3652A1C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001117" y="2"/>
            <a:ext cx="18290822" cy="10288588"/>
          </a:xfrm>
          <a:prstGeom prst="rect">
            <a:avLst/>
          </a:prstGeom>
        </p:spPr>
      </p:pic>
      <p:pic>
        <p:nvPicPr>
          <p:cNvPr id="60" name="Image 1" descr="preencoded.png">
            <a:extLst>
              <a:ext uri="{FF2B5EF4-FFF2-40B4-BE49-F238E27FC236}">
                <a16:creationId xmlns:a16="http://schemas.microsoft.com/office/drawing/2014/main" id="{21E957AC-F0A5-518F-2073-37096E12F3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565357" y="792603"/>
            <a:ext cx="609694" cy="609694"/>
          </a:xfrm>
          <a:prstGeom prst="rect">
            <a:avLst/>
          </a:prstGeom>
        </p:spPr>
      </p:pic>
      <p:sp>
        <p:nvSpPr>
          <p:cNvPr id="61" name="Text 1">
            <a:extLst>
              <a:ext uri="{FF2B5EF4-FFF2-40B4-BE49-F238E27FC236}">
                <a16:creationId xmlns:a16="http://schemas.microsoft.com/office/drawing/2014/main" id="{43F93CC6-01F7-8E68-E740-F12249CE7B05}"/>
              </a:ext>
            </a:extLst>
          </p:cNvPr>
          <p:cNvSpPr/>
          <p:nvPr/>
        </p:nvSpPr>
        <p:spPr>
          <a:xfrm>
            <a:off x="-2742271" y="852025"/>
            <a:ext cx="1790499" cy="358196"/>
          </a:xfrm>
          <a:prstGeom prst="rect">
            <a:avLst/>
          </a:prstGeom>
          <a:noFill/>
          <a:ln/>
        </p:spPr>
        <p:txBody>
          <a:bodyPr wrap="square" lIns="40646" tIns="40646" rIns="40646" bIns="40646" rtlCol="0" anchor="t">
            <a:normAutofit/>
          </a:bodyPr>
          <a:lstStyle/>
          <a:p>
            <a:r>
              <a:rPr lang="en-US" b="1" kern="0" spc="35" dirty="0">
                <a:solidFill>
                  <a:srgbClr val="5E7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SLINT</a:t>
            </a:r>
            <a:endParaRPr lang="en-US" dirty="0"/>
          </a:p>
        </p:txBody>
      </p:sp>
      <p:sp>
        <p:nvSpPr>
          <p:cNvPr id="62" name="Text 2">
            <a:extLst>
              <a:ext uri="{FF2B5EF4-FFF2-40B4-BE49-F238E27FC236}">
                <a16:creationId xmlns:a16="http://schemas.microsoft.com/office/drawing/2014/main" id="{B0625B2B-7953-08E9-089A-52FCCFA3EADB}"/>
              </a:ext>
            </a:extLst>
          </p:cNvPr>
          <p:cNvSpPr/>
          <p:nvPr/>
        </p:nvSpPr>
        <p:spPr>
          <a:xfrm>
            <a:off x="-2742271" y="1159848"/>
            <a:ext cx="2987621" cy="304372"/>
          </a:xfrm>
          <a:prstGeom prst="rect">
            <a:avLst/>
          </a:prstGeom>
          <a:noFill/>
          <a:ln/>
        </p:spPr>
        <p:txBody>
          <a:bodyPr wrap="square" lIns="40646" tIns="40646" rIns="40646" bIns="40646" rtlCol="0" anchor="t">
            <a:normAutofit/>
          </a:bodyPr>
          <a:lstStyle/>
          <a:p>
            <a:r>
              <a:rPr lang="en-US" sz="1141" b="1" kern="0" spc="22" dirty="0">
                <a:solidFill>
                  <a:srgbClr val="5E7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Sierra Leoneans in Technology</a:t>
            </a:r>
            <a:endParaRPr lang="en-US" sz="1141" dirty="0"/>
          </a:p>
        </p:txBody>
      </p:sp>
      <p:sp>
        <p:nvSpPr>
          <p:cNvPr id="63" name="Shape 3">
            <a:extLst>
              <a:ext uri="{FF2B5EF4-FFF2-40B4-BE49-F238E27FC236}">
                <a16:creationId xmlns:a16="http://schemas.microsoft.com/office/drawing/2014/main" id="{26A5183C-8DC6-9FA1-5114-F9DED4540316}"/>
              </a:ext>
            </a:extLst>
          </p:cNvPr>
          <p:cNvSpPr/>
          <p:nvPr/>
        </p:nvSpPr>
        <p:spPr>
          <a:xfrm>
            <a:off x="3830161" y="857383"/>
            <a:ext cx="2359588" cy="48013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en-US" sz="2880"/>
          </a:p>
        </p:txBody>
      </p:sp>
      <p:sp>
        <p:nvSpPr>
          <p:cNvPr id="64" name="Shape 4">
            <a:extLst>
              <a:ext uri="{FF2B5EF4-FFF2-40B4-BE49-F238E27FC236}">
                <a16:creationId xmlns:a16="http://schemas.microsoft.com/office/drawing/2014/main" id="{8A09E4EF-A809-7E0E-AFC2-E87D0ADDC7A7}"/>
              </a:ext>
            </a:extLst>
          </p:cNvPr>
          <p:cNvSpPr/>
          <p:nvPr/>
        </p:nvSpPr>
        <p:spPr>
          <a:xfrm>
            <a:off x="4051176" y="1028861"/>
            <a:ext cx="137181" cy="137181"/>
          </a:xfrm>
          <a:prstGeom prst="ellipse">
            <a:avLst/>
          </a:prstGeom>
          <a:solidFill>
            <a:srgbClr val="E0413E"/>
          </a:solidFill>
          <a:ln/>
          <a:effectLst>
            <a:outerShdw blurRad="101600" dist="50800" dir="16200000" algn="bl" rotWithShape="0">
              <a:srgbClr val="E0413E">
                <a:alpha val="4000"/>
              </a:srgbClr>
            </a:outerShdw>
          </a:effectLst>
        </p:spPr>
        <p:txBody>
          <a:bodyPr/>
          <a:lstStyle/>
          <a:p>
            <a:endParaRPr lang="en-US" sz="2880"/>
          </a:p>
        </p:txBody>
      </p:sp>
      <p:sp>
        <p:nvSpPr>
          <p:cNvPr id="65" name="Text 5">
            <a:extLst>
              <a:ext uri="{FF2B5EF4-FFF2-40B4-BE49-F238E27FC236}">
                <a16:creationId xmlns:a16="http://schemas.microsoft.com/office/drawing/2014/main" id="{02CC6655-CB79-835C-35D8-E8D9E36902D1}"/>
              </a:ext>
            </a:extLst>
          </p:cNvPr>
          <p:cNvSpPr/>
          <p:nvPr/>
        </p:nvSpPr>
        <p:spPr>
          <a:xfrm>
            <a:off x="4325538" y="986944"/>
            <a:ext cx="1765136" cy="281983"/>
          </a:xfrm>
          <a:prstGeom prst="rect">
            <a:avLst/>
          </a:prstGeom>
          <a:noFill/>
          <a:ln/>
        </p:spPr>
        <p:txBody>
          <a:bodyPr wrap="square" lIns="40646" tIns="40646" rIns="40646" bIns="40646" rtlCol="0" anchor="t">
            <a:normAutofit lnSpcReduction="10000"/>
          </a:bodyPr>
          <a:lstStyle/>
          <a:p>
            <a:r>
              <a:rPr lang="en-US" sz="1320" b="1" kern="0" spc="133" dirty="0">
                <a:solidFill>
                  <a:srgbClr val="10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· VIRTUAL</a:t>
            </a:r>
            <a:endParaRPr lang="en-US" sz="1320" dirty="0"/>
          </a:p>
        </p:txBody>
      </p:sp>
      <p:sp>
        <p:nvSpPr>
          <p:cNvPr id="66" name="Text 6">
            <a:extLst>
              <a:ext uri="{FF2B5EF4-FFF2-40B4-BE49-F238E27FC236}">
                <a16:creationId xmlns:a16="http://schemas.microsoft.com/office/drawing/2014/main" id="{24CAF0BB-C6F4-87A7-845D-20DB9F23C89C}"/>
              </a:ext>
            </a:extLst>
          </p:cNvPr>
          <p:cNvSpPr/>
          <p:nvPr/>
        </p:nvSpPr>
        <p:spPr>
          <a:xfrm>
            <a:off x="-3565357" y="1768114"/>
            <a:ext cx="4072804" cy="297227"/>
          </a:xfrm>
          <a:prstGeom prst="rect">
            <a:avLst/>
          </a:prstGeom>
          <a:noFill/>
          <a:ln/>
        </p:spPr>
        <p:txBody>
          <a:bodyPr wrap="square" lIns="40646" tIns="40646" rIns="40646" bIns="40646" rtlCol="0" anchor="t">
            <a:normAutofit lnSpcReduction="10000"/>
          </a:bodyPr>
          <a:lstStyle/>
          <a:p>
            <a:r>
              <a:rPr lang="en-US" sz="1440" b="1" kern="0" spc="288" dirty="0">
                <a:solidFill>
                  <a:srgbClr val="0E7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SLINT · AGENTIC AI WORKSHOP</a:t>
            </a:r>
            <a:endParaRPr lang="en-US" sz="1440" dirty="0"/>
          </a:p>
        </p:txBody>
      </p:sp>
      <p:sp>
        <p:nvSpPr>
          <p:cNvPr id="67" name="Text 7">
            <a:extLst>
              <a:ext uri="{FF2B5EF4-FFF2-40B4-BE49-F238E27FC236}">
                <a16:creationId xmlns:a16="http://schemas.microsoft.com/office/drawing/2014/main" id="{A1953C0E-DE38-FC5E-3890-F0AD8955CA56}"/>
              </a:ext>
            </a:extLst>
          </p:cNvPr>
          <p:cNvSpPr/>
          <p:nvPr/>
        </p:nvSpPr>
        <p:spPr>
          <a:xfrm>
            <a:off x="-3565357" y="2202523"/>
            <a:ext cx="10047758" cy="1398009"/>
          </a:xfrm>
          <a:prstGeom prst="rect">
            <a:avLst/>
          </a:prstGeom>
          <a:noFill/>
          <a:ln/>
        </p:spPr>
        <p:txBody>
          <a:bodyPr wrap="square" lIns="40646" tIns="40646" rIns="40646" bIns="40646" rtlCol="0" anchor="t">
            <a:normAutofit fontScale="92500" lnSpcReduction="20000"/>
          </a:bodyPr>
          <a:lstStyle/>
          <a:p>
            <a:pPr>
              <a:lnSpc>
                <a:spcPct val="102000"/>
              </a:lnSpc>
            </a:pPr>
            <a:r>
              <a:rPr lang="en-US" sz="5161" b="1" kern="0" spc="-130" dirty="0">
                <a:solidFill>
                  <a:srgbClr val="10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Deploy a</a:t>
            </a:r>
            <a:r>
              <a:rPr lang="en-US" sz="5161" b="1" kern="0" spc="-130" dirty="0">
                <a:solidFill>
                  <a:srgbClr val="1C9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</a:t>
            </a:r>
            <a:r>
              <a:rPr lang="en-US" sz="5161" b="1" kern="0" spc="-130" dirty="0">
                <a:solidFill>
                  <a:srgbClr val="10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Web App</a:t>
            </a:r>
            <a:endParaRPr lang="en-US" sz="5161" dirty="0"/>
          </a:p>
        </p:txBody>
      </p:sp>
      <p:sp>
        <p:nvSpPr>
          <p:cNvPr id="68" name="Text 8">
            <a:extLst>
              <a:ext uri="{FF2B5EF4-FFF2-40B4-BE49-F238E27FC236}">
                <a16:creationId xmlns:a16="http://schemas.microsoft.com/office/drawing/2014/main" id="{36FF0AF0-25D8-BB7C-78CD-C03FFC80F9A2}"/>
              </a:ext>
            </a:extLst>
          </p:cNvPr>
          <p:cNvSpPr/>
          <p:nvPr/>
        </p:nvSpPr>
        <p:spPr>
          <a:xfrm>
            <a:off x="-3565357" y="3722471"/>
            <a:ext cx="8899152" cy="768072"/>
          </a:xfrm>
          <a:prstGeom prst="rect">
            <a:avLst/>
          </a:prstGeom>
          <a:noFill/>
          <a:ln/>
        </p:spPr>
        <p:txBody>
          <a:bodyPr wrap="square" lIns="40646" tIns="40646" rIns="40646" bIns="40646" rtlCol="0" anchor="t">
            <a:normAutofit/>
          </a:bodyPr>
          <a:lstStyle/>
          <a:p>
            <a:pPr>
              <a:lnSpc>
                <a:spcPct val="145000"/>
              </a:lnSpc>
            </a:pPr>
            <a:r>
              <a:rPr lang="en-US" sz="1920" dirty="0">
                <a:solidFill>
                  <a:srgbClr val="5E7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live coding with Agentic AI — from prompt to production, end to end.</a:t>
            </a:r>
            <a:endParaRPr lang="en-US" sz="1920" dirty="0"/>
          </a:p>
        </p:txBody>
      </p:sp>
      <p:sp>
        <p:nvSpPr>
          <p:cNvPr id="69" name="Shape 9">
            <a:extLst>
              <a:ext uri="{FF2B5EF4-FFF2-40B4-BE49-F238E27FC236}">
                <a16:creationId xmlns:a16="http://schemas.microsoft.com/office/drawing/2014/main" id="{34EB791A-2E07-14C7-C745-A2310364FEE5}"/>
              </a:ext>
            </a:extLst>
          </p:cNvPr>
          <p:cNvSpPr/>
          <p:nvPr/>
        </p:nvSpPr>
        <p:spPr>
          <a:xfrm>
            <a:off x="-3565357" y="4734419"/>
            <a:ext cx="9755105" cy="1694164"/>
          </a:xfrm>
          <a:prstGeom prst="roundRect">
            <a:avLst>
              <a:gd name="adj" fmla="val 11984"/>
            </a:avLst>
          </a:prstGeom>
          <a:solidFill>
            <a:srgbClr val="F1F7FB"/>
          </a:solidFill>
          <a:ln w="14288">
            <a:solidFill>
              <a:srgbClr val="EAF1F6"/>
            </a:solidFill>
            <a:prstDash val="solid"/>
          </a:ln>
        </p:spPr>
        <p:txBody>
          <a:bodyPr/>
          <a:lstStyle/>
          <a:p>
            <a:endParaRPr lang="en-US" sz="2880"/>
          </a:p>
        </p:txBody>
      </p:sp>
      <p:sp>
        <p:nvSpPr>
          <p:cNvPr id="70" name="Shape 10">
            <a:extLst>
              <a:ext uri="{FF2B5EF4-FFF2-40B4-BE49-F238E27FC236}">
                <a16:creationId xmlns:a16="http://schemas.microsoft.com/office/drawing/2014/main" id="{8FC2BD22-E037-32C2-F389-7D29803E69BE}"/>
              </a:ext>
            </a:extLst>
          </p:cNvPr>
          <p:cNvSpPr/>
          <p:nvPr/>
        </p:nvSpPr>
        <p:spPr>
          <a:xfrm>
            <a:off x="-2585559" y="5027953"/>
            <a:ext cx="631605" cy="631605"/>
          </a:xfrm>
          <a:prstGeom prst="roundRect">
            <a:avLst>
              <a:gd name="adj" fmla="val 26787"/>
            </a:avLst>
          </a:prstGeom>
          <a:solidFill>
            <a:srgbClr val="FFFFFF"/>
          </a:solidFill>
          <a:ln w="14288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en-US" sz="2880"/>
          </a:p>
        </p:txBody>
      </p:sp>
      <p:pic>
        <p:nvPicPr>
          <p:cNvPr id="71" name="Image 2" descr="preencoded.png">
            <a:extLst>
              <a:ext uri="{FF2B5EF4-FFF2-40B4-BE49-F238E27FC236}">
                <a16:creationId xmlns:a16="http://schemas.microsoft.com/office/drawing/2014/main" id="{3ACD1DBA-5BD4-2531-AD3D-C66B0758B6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438970" y="5174542"/>
            <a:ext cx="338308" cy="338308"/>
          </a:xfrm>
          <a:prstGeom prst="rect">
            <a:avLst/>
          </a:prstGeom>
        </p:spPr>
      </p:pic>
      <p:sp>
        <p:nvSpPr>
          <p:cNvPr id="72" name="Text 11">
            <a:extLst>
              <a:ext uri="{FF2B5EF4-FFF2-40B4-BE49-F238E27FC236}">
                <a16:creationId xmlns:a16="http://schemas.microsoft.com/office/drawing/2014/main" id="{8656821B-196E-0756-C3C8-0B89378AA9A3}"/>
              </a:ext>
            </a:extLst>
          </p:cNvPr>
          <p:cNvSpPr/>
          <p:nvPr/>
        </p:nvSpPr>
        <p:spPr>
          <a:xfrm>
            <a:off x="-2891835" y="5761016"/>
            <a:ext cx="1244277" cy="256380"/>
          </a:xfrm>
          <a:prstGeom prst="rect">
            <a:avLst/>
          </a:prstGeom>
          <a:noFill/>
          <a:ln/>
        </p:spPr>
        <p:txBody>
          <a:bodyPr wrap="square" lIns="40646" tIns="40646" rIns="40646" bIns="40646" rtlCol="0" anchor="t">
            <a:normAutofit fontScale="85000" lnSpcReduction="10000"/>
          </a:bodyPr>
          <a:lstStyle/>
          <a:p>
            <a:pPr algn="ctr">
              <a:lnSpc>
                <a:spcPct val="105000"/>
              </a:lnSpc>
            </a:pPr>
            <a:r>
              <a:rPr lang="en-US" sz="1466" b="1" dirty="0">
                <a:solidFill>
                  <a:srgbClr val="10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1466" dirty="0"/>
          </a:p>
        </p:txBody>
      </p:sp>
      <p:sp>
        <p:nvSpPr>
          <p:cNvPr id="73" name="Text 12">
            <a:extLst>
              <a:ext uri="{FF2B5EF4-FFF2-40B4-BE49-F238E27FC236}">
                <a16:creationId xmlns:a16="http://schemas.microsoft.com/office/drawing/2014/main" id="{AB1539F2-D6EB-371F-554A-AEEE71816D07}"/>
              </a:ext>
            </a:extLst>
          </p:cNvPr>
          <p:cNvSpPr/>
          <p:nvPr/>
        </p:nvSpPr>
        <p:spPr>
          <a:xfrm>
            <a:off x="-2675823" y="5990245"/>
            <a:ext cx="812250" cy="205773"/>
          </a:xfrm>
          <a:prstGeom prst="rect">
            <a:avLst/>
          </a:prstGeom>
          <a:noFill/>
          <a:ln/>
        </p:spPr>
        <p:txBody>
          <a:bodyPr wrap="square" lIns="40646" tIns="40646" rIns="40646" bIns="40646" rtlCol="0" anchor="t">
            <a:normAutofit fontScale="92500"/>
          </a:bodyPr>
          <a:lstStyle/>
          <a:p>
            <a:pPr algn="ctr"/>
            <a:r>
              <a:rPr lang="en-US" sz="888" b="1" kern="0" spc="70" dirty="0">
                <a:solidFill>
                  <a:srgbClr val="5E73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CODING</a:t>
            </a:r>
            <a:endParaRPr lang="en-US" sz="888" dirty="0"/>
          </a:p>
        </p:txBody>
      </p:sp>
      <p:pic>
        <p:nvPicPr>
          <p:cNvPr id="74" name="Image 3" descr="preencoded.png">
            <a:extLst>
              <a:ext uri="{FF2B5EF4-FFF2-40B4-BE49-F238E27FC236}">
                <a16:creationId xmlns:a16="http://schemas.microsoft.com/office/drawing/2014/main" id="{F23B028A-312B-6705-DF45-2440BAE3F1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199816" y="5457477"/>
            <a:ext cx="248045" cy="248045"/>
          </a:xfrm>
          <a:prstGeom prst="rect">
            <a:avLst/>
          </a:prstGeom>
        </p:spPr>
      </p:pic>
      <p:sp>
        <p:nvSpPr>
          <p:cNvPr id="75" name="Shape 13">
            <a:extLst>
              <a:ext uri="{FF2B5EF4-FFF2-40B4-BE49-F238E27FC236}">
                <a16:creationId xmlns:a16="http://schemas.microsoft.com/office/drawing/2014/main" id="{106AB13D-E3D5-7E73-BFAE-3BB6CDD69593}"/>
              </a:ext>
            </a:extLst>
          </p:cNvPr>
          <p:cNvSpPr/>
          <p:nvPr/>
        </p:nvSpPr>
        <p:spPr>
          <a:xfrm>
            <a:off x="-197631" y="5027953"/>
            <a:ext cx="631605" cy="631605"/>
          </a:xfrm>
          <a:prstGeom prst="roundRect">
            <a:avLst>
              <a:gd name="adj" fmla="val 26787"/>
            </a:avLst>
          </a:prstGeom>
          <a:solidFill>
            <a:srgbClr val="FFFFFF"/>
          </a:solidFill>
          <a:ln w="14288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en-US" sz="2880"/>
          </a:p>
        </p:txBody>
      </p:sp>
      <p:pic>
        <p:nvPicPr>
          <p:cNvPr id="76" name="Image 4" descr="preencoded.png">
            <a:extLst>
              <a:ext uri="{FF2B5EF4-FFF2-40B4-BE49-F238E27FC236}">
                <a16:creationId xmlns:a16="http://schemas.microsoft.com/office/drawing/2014/main" id="{3723999C-80B7-280B-F848-4D6B454E3A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51042" y="5174542"/>
            <a:ext cx="338308" cy="338308"/>
          </a:xfrm>
          <a:prstGeom prst="rect">
            <a:avLst/>
          </a:prstGeom>
        </p:spPr>
      </p:pic>
      <p:sp>
        <p:nvSpPr>
          <p:cNvPr id="77" name="Text 14">
            <a:extLst>
              <a:ext uri="{FF2B5EF4-FFF2-40B4-BE49-F238E27FC236}">
                <a16:creationId xmlns:a16="http://schemas.microsoft.com/office/drawing/2014/main" id="{BEBE8973-54F5-3D2C-EB52-D7720EB5C706}"/>
              </a:ext>
            </a:extLst>
          </p:cNvPr>
          <p:cNvSpPr/>
          <p:nvPr/>
        </p:nvSpPr>
        <p:spPr>
          <a:xfrm>
            <a:off x="-249431" y="5761016"/>
            <a:ext cx="735086" cy="256380"/>
          </a:xfrm>
          <a:prstGeom prst="rect">
            <a:avLst/>
          </a:prstGeom>
          <a:noFill/>
          <a:ln/>
        </p:spPr>
        <p:txBody>
          <a:bodyPr wrap="square" lIns="40646" tIns="40646" rIns="40646" bIns="40646" rtlCol="0" anchor="t">
            <a:normAutofit fontScale="85000" lnSpcReduction="10000"/>
          </a:bodyPr>
          <a:lstStyle/>
          <a:p>
            <a:pPr algn="ctr">
              <a:lnSpc>
                <a:spcPct val="105000"/>
              </a:lnSpc>
            </a:pPr>
            <a:r>
              <a:rPr lang="en-US" sz="1466" b="1" dirty="0">
                <a:solidFill>
                  <a:srgbClr val="10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466" dirty="0"/>
          </a:p>
        </p:txBody>
      </p:sp>
      <p:sp>
        <p:nvSpPr>
          <p:cNvPr id="78" name="Text 15">
            <a:extLst>
              <a:ext uri="{FF2B5EF4-FFF2-40B4-BE49-F238E27FC236}">
                <a16:creationId xmlns:a16="http://schemas.microsoft.com/office/drawing/2014/main" id="{76638A9C-1336-95A8-0554-1BDC3E818D4F}"/>
              </a:ext>
            </a:extLst>
          </p:cNvPr>
          <p:cNvSpPr/>
          <p:nvPr/>
        </p:nvSpPr>
        <p:spPr>
          <a:xfrm>
            <a:off x="-211325" y="5990245"/>
            <a:ext cx="658874" cy="205773"/>
          </a:xfrm>
          <a:prstGeom prst="rect">
            <a:avLst/>
          </a:prstGeom>
          <a:noFill/>
          <a:ln/>
        </p:spPr>
        <p:txBody>
          <a:bodyPr wrap="square" lIns="40646" tIns="40646" rIns="40646" bIns="40646" rtlCol="0" anchor="t">
            <a:normAutofit fontScale="92500"/>
          </a:bodyPr>
          <a:lstStyle/>
          <a:p>
            <a:pPr algn="ctr"/>
            <a:r>
              <a:rPr lang="en-US" sz="888" b="1" kern="0" spc="70" dirty="0">
                <a:solidFill>
                  <a:srgbClr val="5E73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</a:t>
            </a:r>
            <a:endParaRPr lang="en-US" sz="888" dirty="0"/>
          </a:p>
        </p:txBody>
      </p:sp>
      <p:pic>
        <p:nvPicPr>
          <p:cNvPr id="79" name="Image 5" descr="preencoded.png">
            <a:extLst>
              <a:ext uri="{FF2B5EF4-FFF2-40B4-BE49-F238E27FC236}">
                <a16:creationId xmlns:a16="http://schemas.microsoft.com/office/drawing/2014/main" id="{F0787780-1446-E985-FAF9-8C5CC6E33C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8114" y="5457477"/>
            <a:ext cx="248045" cy="248045"/>
          </a:xfrm>
          <a:prstGeom prst="rect">
            <a:avLst/>
          </a:prstGeom>
        </p:spPr>
      </p:pic>
      <p:sp>
        <p:nvSpPr>
          <p:cNvPr id="80" name="Shape 16">
            <a:extLst>
              <a:ext uri="{FF2B5EF4-FFF2-40B4-BE49-F238E27FC236}">
                <a16:creationId xmlns:a16="http://schemas.microsoft.com/office/drawing/2014/main" id="{ACA224C7-34BD-6D44-B0DC-B88BACFF117A}"/>
              </a:ext>
            </a:extLst>
          </p:cNvPr>
          <p:cNvSpPr/>
          <p:nvPr/>
        </p:nvSpPr>
        <p:spPr>
          <a:xfrm>
            <a:off x="2190297" y="5027953"/>
            <a:ext cx="631605" cy="631605"/>
          </a:xfrm>
          <a:prstGeom prst="roundRect">
            <a:avLst>
              <a:gd name="adj" fmla="val 26787"/>
            </a:avLst>
          </a:prstGeom>
          <a:solidFill>
            <a:srgbClr val="FFFFFF"/>
          </a:solidFill>
          <a:ln w="14288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en-US" sz="2880"/>
          </a:p>
        </p:txBody>
      </p:sp>
      <p:pic>
        <p:nvPicPr>
          <p:cNvPr id="81" name="Image 6" descr="preencoded.png">
            <a:extLst>
              <a:ext uri="{FF2B5EF4-FFF2-40B4-BE49-F238E27FC236}">
                <a16:creationId xmlns:a16="http://schemas.microsoft.com/office/drawing/2014/main" id="{A4650B9B-A427-E572-547C-99BE1FCF8C5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36887" y="5174542"/>
            <a:ext cx="338308" cy="338308"/>
          </a:xfrm>
          <a:prstGeom prst="rect">
            <a:avLst/>
          </a:prstGeom>
        </p:spPr>
      </p:pic>
      <p:sp>
        <p:nvSpPr>
          <p:cNvPr id="82" name="Text 17">
            <a:extLst>
              <a:ext uri="{FF2B5EF4-FFF2-40B4-BE49-F238E27FC236}">
                <a16:creationId xmlns:a16="http://schemas.microsoft.com/office/drawing/2014/main" id="{1528682D-63CA-B774-DA89-F23EB38CCD8A}"/>
              </a:ext>
            </a:extLst>
          </p:cNvPr>
          <p:cNvSpPr/>
          <p:nvPr/>
        </p:nvSpPr>
        <p:spPr>
          <a:xfrm>
            <a:off x="2168508" y="5761016"/>
            <a:ext cx="675069" cy="256380"/>
          </a:xfrm>
          <a:prstGeom prst="rect">
            <a:avLst/>
          </a:prstGeom>
          <a:noFill/>
          <a:ln/>
        </p:spPr>
        <p:txBody>
          <a:bodyPr wrap="square" lIns="40646" tIns="40646" rIns="40646" bIns="40646" rtlCol="0" anchor="t">
            <a:normAutofit fontScale="85000" lnSpcReduction="10000"/>
          </a:bodyPr>
          <a:lstStyle/>
          <a:p>
            <a:pPr algn="ctr">
              <a:lnSpc>
                <a:spcPct val="105000"/>
              </a:lnSpc>
            </a:pPr>
            <a:r>
              <a:rPr lang="en-US" sz="1466" b="1" dirty="0">
                <a:solidFill>
                  <a:srgbClr val="10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en-US" sz="1466" dirty="0"/>
          </a:p>
        </p:txBody>
      </p:sp>
      <p:sp>
        <p:nvSpPr>
          <p:cNvPr id="83" name="Text 18">
            <a:extLst>
              <a:ext uri="{FF2B5EF4-FFF2-40B4-BE49-F238E27FC236}">
                <a16:creationId xmlns:a16="http://schemas.microsoft.com/office/drawing/2014/main" id="{8F621504-43F9-E3FA-5579-003769DD9B2E}"/>
              </a:ext>
            </a:extLst>
          </p:cNvPr>
          <p:cNvSpPr/>
          <p:nvPr/>
        </p:nvSpPr>
        <p:spPr>
          <a:xfrm>
            <a:off x="2214948" y="5990245"/>
            <a:ext cx="582186" cy="205773"/>
          </a:xfrm>
          <a:prstGeom prst="rect">
            <a:avLst/>
          </a:prstGeom>
          <a:noFill/>
          <a:ln/>
        </p:spPr>
        <p:txBody>
          <a:bodyPr wrap="square" lIns="40646" tIns="40646" rIns="40646" bIns="40646" rtlCol="0" anchor="t">
            <a:normAutofit fontScale="92500"/>
          </a:bodyPr>
          <a:lstStyle/>
          <a:p>
            <a:pPr algn="ctr"/>
            <a:r>
              <a:rPr lang="en-US" sz="888" b="1" kern="0" spc="70" dirty="0">
                <a:solidFill>
                  <a:srgbClr val="5E73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</a:t>
            </a:r>
            <a:endParaRPr lang="en-US" sz="888" dirty="0"/>
          </a:p>
        </p:txBody>
      </p:sp>
      <p:pic>
        <p:nvPicPr>
          <p:cNvPr id="84" name="Image 7" descr="preencoded.png">
            <a:extLst>
              <a:ext uri="{FF2B5EF4-FFF2-40B4-BE49-F238E27FC236}">
                <a16:creationId xmlns:a16="http://schemas.microsoft.com/office/drawing/2014/main" id="{D164DA9B-8F2B-967D-66AD-F2EF32345B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6043" y="5457477"/>
            <a:ext cx="248045" cy="248045"/>
          </a:xfrm>
          <a:prstGeom prst="rect">
            <a:avLst/>
          </a:prstGeom>
        </p:spPr>
      </p:pic>
      <p:sp>
        <p:nvSpPr>
          <p:cNvPr id="85" name="Shape 19">
            <a:extLst>
              <a:ext uri="{FF2B5EF4-FFF2-40B4-BE49-F238E27FC236}">
                <a16:creationId xmlns:a16="http://schemas.microsoft.com/office/drawing/2014/main" id="{8ACC20A2-6638-D47C-EE0F-CDED8764A1BE}"/>
              </a:ext>
            </a:extLst>
          </p:cNvPr>
          <p:cNvSpPr/>
          <p:nvPr/>
        </p:nvSpPr>
        <p:spPr>
          <a:xfrm>
            <a:off x="4578226" y="5027953"/>
            <a:ext cx="631605" cy="631605"/>
          </a:xfrm>
          <a:prstGeom prst="roundRect">
            <a:avLst>
              <a:gd name="adj" fmla="val 26787"/>
            </a:avLst>
          </a:prstGeom>
          <a:solidFill>
            <a:srgbClr val="1C9FD8"/>
          </a:solidFill>
          <a:ln/>
        </p:spPr>
        <p:txBody>
          <a:bodyPr/>
          <a:lstStyle/>
          <a:p>
            <a:endParaRPr lang="en-US" sz="2880"/>
          </a:p>
        </p:txBody>
      </p:sp>
      <p:pic>
        <p:nvPicPr>
          <p:cNvPr id="86" name="Image 8" descr="preencoded.png">
            <a:extLst>
              <a:ext uri="{FF2B5EF4-FFF2-40B4-BE49-F238E27FC236}">
                <a16:creationId xmlns:a16="http://schemas.microsoft.com/office/drawing/2014/main" id="{14A8B3D9-CEED-A010-AF0A-5F43F7B6BD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09573" y="5159299"/>
            <a:ext cx="368793" cy="368793"/>
          </a:xfrm>
          <a:prstGeom prst="rect">
            <a:avLst/>
          </a:prstGeom>
        </p:spPr>
      </p:pic>
      <p:sp>
        <p:nvSpPr>
          <p:cNvPr id="87" name="Text 20">
            <a:extLst>
              <a:ext uri="{FF2B5EF4-FFF2-40B4-BE49-F238E27FC236}">
                <a16:creationId xmlns:a16="http://schemas.microsoft.com/office/drawing/2014/main" id="{1226751D-D7FB-109E-8EE2-27AFEE370EBE}"/>
              </a:ext>
            </a:extLst>
          </p:cNvPr>
          <p:cNvSpPr/>
          <p:nvPr/>
        </p:nvSpPr>
        <p:spPr>
          <a:xfrm>
            <a:off x="4454145" y="5761016"/>
            <a:ext cx="879651" cy="256380"/>
          </a:xfrm>
          <a:prstGeom prst="rect">
            <a:avLst/>
          </a:prstGeom>
          <a:noFill/>
          <a:ln/>
        </p:spPr>
        <p:txBody>
          <a:bodyPr wrap="square" lIns="40646" tIns="40646" rIns="40646" bIns="40646" rtlCol="0" anchor="t">
            <a:normAutofit fontScale="85000" lnSpcReduction="10000"/>
          </a:bodyPr>
          <a:lstStyle/>
          <a:p>
            <a:pPr algn="ctr">
              <a:lnSpc>
                <a:spcPct val="105000"/>
              </a:lnSpc>
            </a:pPr>
            <a:r>
              <a:rPr lang="en-US" sz="1466" b="1" dirty="0">
                <a:solidFill>
                  <a:srgbClr val="10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App</a:t>
            </a:r>
            <a:endParaRPr lang="en-US" sz="1466" dirty="0"/>
          </a:p>
        </p:txBody>
      </p:sp>
      <p:sp>
        <p:nvSpPr>
          <p:cNvPr id="88" name="Text 21">
            <a:extLst>
              <a:ext uri="{FF2B5EF4-FFF2-40B4-BE49-F238E27FC236}">
                <a16:creationId xmlns:a16="http://schemas.microsoft.com/office/drawing/2014/main" id="{35C3857C-E874-6C68-76CB-1A75CA093D74}"/>
              </a:ext>
            </a:extLst>
          </p:cNvPr>
          <p:cNvSpPr/>
          <p:nvPr/>
        </p:nvSpPr>
        <p:spPr>
          <a:xfrm>
            <a:off x="4449501" y="5990245"/>
            <a:ext cx="888939" cy="205773"/>
          </a:xfrm>
          <a:prstGeom prst="rect">
            <a:avLst/>
          </a:prstGeom>
          <a:noFill/>
          <a:ln/>
        </p:spPr>
        <p:txBody>
          <a:bodyPr wrap="square" lIns="40646" tIns="40646" rIns="40646" bIns="40646" rtlCol="0" anchor="t">
            <a:normAutofit fontScale="92500"/>
          </a:bodyPr>
          <a:lstStyle/>
          <a:p>
            <a:pPr algn="ctr"/>
            <a:r>
              <a:rPr lang="en-US" sz="888" b="1" kern="0" spc="70" dirty="0">
                <a:solidFill>
                  <a:srgbClr val="5E73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PRODUCTION</a:t>
            </a:r>
            <a:endParaRPr lang="en-US" sz="888" dirty="0"/>
          </a:p>
        </p:txBody>
      </p:sp>
      <p:sp>
        <p:nvSpPr>
          <p:cNvPr id="89" name="Text 22">
            <a:extLst>
              <a:ext uri="{FF2B5EF4-FFF2-40B4-BE49-F238E27FC236}">
                <a16:creationId xmlns:a16="http://schemas.microsoft.com/office/drawing/2014/main" id="{371586B9-4AFE-5687-5527-D7A51BE1FAA0}"/>
              </a:ext>
            </a:extLst>
          </p:cNvPr>
          <p:cNvSpPr/>
          <p:nvPr/>
        </p:nvSpPr>
        <p:spPr>
          <a:xfrm>
            <a:off x="-3341008" y="7402189"/>
            <a:ext cx="1498156" cy="222801"/>
          </a:xfrm>
          <a:prstGeom prst="rect">
            <a:avLst/>
          </a:prstGeom>
          <a:noFill/>
          <a:ln/>
        </p:spPr>
        <p:txBody>
          <a:bodyPr wrap="square" lIns="40646" tIns="40646" rIns="40646" bIns="40646" rtlCol="0" anchor="t">
            <a:normAutofit fontScale="85000" lnSpcReduction="20000"/>
          </a:bodyPr>
          <a:lstStyle/>
          <a:p>
            <a:pPr>
              <a:lnSpc>
                <a:spcPct val="110000"/>
              </a:lnSpc>
            </a:pPr>
            <a:r>
              <a:rPr lang="en-US" sz="1160" b="1" kern="0" spc="115" dirty="0">
                <a:solidFill>
                  <a:srgbClr val="5E73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1160" dirty="0"/>
          </a:p>
        </p:txBody>
      </p:sp>
      <p:sp>
        <p:nvSpPr>
          <p:cNvPr id="90" name="Text 23">
            <a:extLst>
              <a:ext uri="{FF2B5EF4-FFF2-40B4-BE49-F238E27FC236}">
                <a16:creationId xmlns:a16="http://schemas.microsoft.com/office/drawing/2014/main" id="{88B4E514-D187-AEAE-3A38-2FB07A4172BD}"/>
              </a:ext>
            </a:extLst>
          </p:cNvPr>
          <p:cNvSpPr/>
          <p:nvPr/>
        </p:nvSpPr>
        <p:spPr>
          <a:xfrm>
            <a:off x="-3341008" y="7634038"/>
            <a:ext cx="1693450" cy="338667"/>
          </a:xfrm>
          <a:prstGeom prst="rect">
            <a:avLst/>
          </a:prstGeom>
          <a:noFill/>
          <a:ln/>
        </p:spPr>
        <p:txBody>
          <a:bodyPr wrap="square" lIns="40646" tIns="40646" rIns="40646" bIns="40646" rtlCol="0" anchor="t"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n-US" sz="1987" b="1" dirty="0">
                <a:solidFill>
                  <a:srgbClr val="10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 · Jun 13</a:t>
            </a:r>
            <a:endParaRPr lang="en-US" sz="1987" dirty="0"/>
          </a:p>
        </p:txBody>
      </p:sp>
      <p:sp>
        <p:nvSpPr>
          <p:cNvPr id="91" name="Shape 24">
            <a:extLst>
              <a:ext uri="{FF2B5EF4-FFF2-40B4-BE49-F238E27FC236}">
                <a16:creationId xmlns:a16="http://schemas.microsoft.com/office/drawing/2014/main" id="{CF013B7B-8D69-904D-B45A-4106C52597CD}"/>
              </a:ext>
            </a:extLst>
          </p:cNvPr>
          <p:cNvSpPr/>
          <p:nvPr/>
        </p:nvSpPr>
        <p:spPr>
          <a:xfrm>
            <a:off x="-1740441" y="7402188"/>
            <a:ext cx="22864" cy="509547"/>
          </a:xfrm>
          <a:prstGeom prst="rect">
            <a:avLst/>
          </a:prstGeom>
          <a:solidFill>
            <a:srgbClr val="DCE8F0"/>
          </a:solidFill>
          <a:ln/>
        </p:spPr>
        <p:txBody>
          <a:bodyPr/>
          <a:lstStyle/>
          <a:p>
            <a:endParaRPr lang="en-US" sz="2880"/>
          </a:p>
        </p:txBody>
      </p:sp>
      <p:sp>
        <p:nvSpPr>
          <p:cNvPr id="92" name="Text 25">
            <a:extLst>
              <a:ext uri="{FF2B5EF4-FFF2-40B4-BE49-F238E27FC236}">
                <a16:creationId xmlns:a16="http://schemas.microsoft.com/office/drawing/2014/main" id="{03F63C6E-03E7-865C-37E2-976AC6802281}"/>
              </a:ext>
            </a:extLst>
          </p:cNvPr>
          <p:cNvSpPr/>
          <p:nvPr/>
        </p:nvSpPr>
        <p:spPr>
          <a:xfrm>
            <a:off x="-1493231" y="7402189"/>
            <a:ext cx="1613308" cy="222801"/>
          </a:xfrm>
          <a:prstGeom prst="rect">
            <a:avLst/>
          </a:prstGeom>
          <a:noFill/>
          <a:ln/>
        </p:spPr>
        <p:txBody>
          <a:bodyPr wrap="square" lIns="40646" tIns="40646" rIns="40646" bIns="40646" rtlCol="0" anchor="t">
            <a:normAutofit fontScale="85000" lnSpcReduction="20000"/>
          </a:bodyPr>
          <a:lstStyle/>
          <a:p>
            <a:pPr>
              <a:lnSpc>
                <a:spcPct val="110000"/>
              </a:lnSpc>
            </a:pPr>
            <a:r>
              <a:rPr lang="en-US" sz="1160" b="1" kern="0" spc="115" dirty="0">
                <a:solidFill>
                  <a:srgbClr val="5E73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</a:t>
            </a:r>
            <a:endParaRPr lang="en-US" sz="1160" dirty="0"/>
          </a:p>
        </p:txBody>
      </p:sp>
      <p:sp>
        <p:nvSpPr>
          <p:cNvPr id="93" name="Text 26">
            <a:extLst>
              <a:ext uri="{FF2B5EF4-FFF2-40B4-BE49-F238E27FC236}">
                <a16:creationId xmlns:a16="http://schemas.microsoft.com/office/drawing/2014/main" id="{A3B50798-EA1A-7C6B-13AE-F2309A2E8076}"/>
              </a:ext>
            </a:extLst>
          </p:cNvPr>
          <p:cNvSpPr/>
          <p:nvPr/>
        </p:nvSpPr>
        <p:spPr>
          <a:xfrm>
            <a:off x="-1493231" y="7634038"/>
            <a:ext cx="1613308" cy="338667"/>
          </a:xfrm>
          <a:prstGeom prst="rect">
            <a:avLst/>
          </a:prstGeom>
          <a:noFill/>
          <a:ln/>
        </p:spPr>
        <p:txBody>
          <a:bodyPr wrap="square" lIns="40646" tIns="40646" rIns="40646" bIns="40646" rtlCol="0" anchor="t"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n-US" sz="1987" b="1" dirty="0">
                <a:solidFill>
                  <a:srgbClr val="10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2:00 PM EST</a:t>
            </a:r>
            <a:endParaRPr lang="en-US" sz="1987" dirty="0"/>
          </a:p>
        </p:txBody>
      </p:sp>
      <p:sp>
        <p:nvSpPr>
          <p:cNvPr id="94" name="Shape 27">
            <a:extLst>
              <a:ext uri="{FF2B5EF4-FFF2-40B4-BE49-F238E27FC236}">
                <a16:creationId xmlns:a16="http://schemas.microsoft.com/office/drawing/2014/main" id="{1D12C02D-488E-7D0B-8E8C-1FC0D3D22BB7}"/>
              </a:ext>
            </a:extLst>
          </p:cNvPr>
          <p:cNvSpPr/>
          <p:nvPr/>
        </p:nvSpPr>
        <p:spPr>
          <a:xfrm>
            <a:off x="222487" y="7402188"/>
            <a:ext cx="22864" cy="509547"/>
          </a:xfrm>
          <a:prstGeom prst="rect">
            <a:avLst/>
          </a:prstGeom>
          <a:solidFill>
            <a:srgbClr val="DCE8F0"/>
          </a:solidFill>
          <a:ln/>
        </p:spPr>
        <p:txBody>
          <a:bodyPr/>
          <a:lstStyle/>
          <a:p>
            <a:endParaRPr lang="en-US" sz="2880"/>
          </a:p>
        </p:txBody>
      </p:sp>
      <p:sp>
        <p:nvSpPr>
          <p:cNvPr id="95" name="Text 28">
            <a:extLst>
              <a:ext uri="{FF2B5EF4-FFF2-40B4-BE49-F238E27FC236}">
                <a16:creationId xmlns:a16="http://schemas.microsoft.com/office/drawing/2014/main" id="{4578B88F-1B27-3484-5D81-1E6A6EA82E4F}"/>
              </a:ext>
            </a:extLst>
          </p:cNvPr>
          <p:cNvSpPr/>
          <p:nvPr/>
        </p:nvSpPr>
        <p:spPr>
          <a:xfrm>
            <a:off x="469700" y="7402189"/>
            <a:ext cx="1403249" cy="222801"/>
          </a:xfrm>
          <a:prstGeom prst="rect">
            <a:avLst/>
          </a:prstGeom>
          <a:noFill/>
          <a:ln/>
        </p:spPr>
        <p:txBody>
          <a:bodyPr wrap="square" lIns="40646" tIns="40646" rIns="40646" bIns="40646" rtlCol="0" anchor="t">
            <a:normAutofit fontScale="85000" lnSpcReduction="20000"/>
          </a:bodyPr>
          <a:lstStyle/>
          <a:p>
            <a:pPr>
              <a:lnSpc>
                <a:spcPct val="110000"/>
              </a:lnSpc>
            </a:pPr>
            <a:r>
              <a:rPr lang="en-US" sz="1160" b="1" kern="0" spc="115" dirty="0">
                <a:solidFill>
                  <a:srgbClr val="5E73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endParaRPr lang="en-US" sz="1160" dirty="0"/>
          </a:p>
        </p:txBody>
      </p:sp>
      <p:sp>
        <p:nvSpPr>
          <p:cNvPr id="96" name="Text 29">
            <a:extLst>
              <a:ext uri="{FF2B5EF4-FFF2-40B4-BE49-F238E27FC236}">
                <a16:creationId xmlns:a16="http://schemas.microsoft.com/office/drawing/2014/main" id="{AED94E2F-918F-1E97-EBA0-35A80FF61066}"/>
              </a:ext>
            </a:extLst>
          </p:cNvPr>
          <p:cNvSpPr/>
          <p:nvPr/>
        </p:nvSpPr>
        <p:spPr>
          <a:xfrm>
            <a:off x="469700" y="7634038"/>
            <a:ext cx="1403249" cy="338667"/>
          </a:xfrm>
          <a:prstGeom prst="rect">
            <a:avLst/>
          </a:prstGeom>
          <a:noFill/>
          <a:ln/>
        </p:spPr>
        <p:txBody>
          <a:bodyPr wrap="square" lIns="40646" tIns="40646" rIns="40646" bIns="40646" rtlCol="0" anchor="t"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n-US" sz="1987" b="1" dirty="0">
                <a:solidFill>
                  <a:srgbClr val="10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45–90 min</a:t>
            </a:r>
            <a:endParaRPr lang="en-US" sz="1987" dirty="0"/>
          </a:p>
        </p:txBody>
      </p:sp>
      <p:sp>
        <p:nvSpPr>
          <p:cNvPr id="97" name="Shape 30">
            <a:extLst>
              <a:ext uri="{FF2B5EF4-FFF2-40B4-BE49-F238E27FC236}">
                <a16:creationId xmlns:a16="http://schemas.microsoft.com/office/drawing/2014/main" id="{6AA9698D-E944-C1D1-E9B6-E1B21F330EFF}"/>
              </a:ext>
            </a:extLst>
          </p:cNvPr>
          <p:cNvSpPr/>
          <p:nvPr/>
        </p:nvSpPr>
        <p:spPr>
          <a:xfrm>
            <a:off x="2882872" y="7311805"/>
            <a:ext cx="3306877" cy="690431"/>
          </a:xfrm>
          <a:prstGeom prst="roundRect">
            <a:avLst>
              <a:gd name="adj" fmla="val 26580"/>
            </a:avLst>
          </a:prstGeom>
          <a:solidFill>
            <a:srgbClr val="1C9FD8"/>
          </a:solidFill>
          <a:ln/>
          <a:effectLst>
            <a:outerShdw blurRad="228600" dist="95250" dir="5400000" algn="bl" rotWithShape="0">
              <a:srgbClr val="1C9FD8">
                <a:alpha val="34000"/>
              </a:srgbClr>
            </a:outerShdw>
          </a:effectLst>
        </p:spPr>
        <p:txBody>
          <a:bodyPr/>
          <a:lstStyle/>
          <a:p>
            <a:endParaRPr lang="en-US" sz="2880"/>
          </a:p>
        </p:txBody>
      </p:sp>
      <p:sp>
        <p:nvSpPr>
          <p:cNvPr id="98" name="Text 31">
            <a:extLst>
              <a:ext uri="{FF2B5EF4-FFF2-40B4-BE49-F238E27FC236}">
                <a16:creationId xmlns:a16="http://schemas.microsoft.com/office/drawing/2014/main" id="{00B0F79F-F9C6-38E0-076B-14FFF4DF96C7}"/>
              </a:ext>
            </a:extLst>
          </p:cNvPr>
          <p:cNvSpPr/>
          <p:nvPr/>
        </p:nvSpPr>
        <p:spPr>
          <a:xfrm>
            <a:off x="3223682" y="7508408"/>
            <a:ext cx="2476773" cy="358196"/>
          </a:xfrm>
          <a:prstGeom prst="rect">
            <a:avLst/>
          </a:prstGeom>
          <a:noFill/>
          <a:ln/>
        </p:spPr>
        <p:txBody>
          <a:bodyPr wrap="square" lIns="40646" tIns="40646" rIns="40646" bIns="40646" rtlCol="0" anchor="t">
            <a:normAutofit lnSpcReduction="10000"/>
          </a:bodyPr>
          <a:lstStyle/>
          <a:p>
            <a:r>
              <a:rPr lang="en-US" sz="185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— It’s Free</a:t>
            </a:r>
            <a:endParaRPr lang="en-US" sz="1858" dirty="0"/>
          </a:p>
        </p:txBody>
      </p:sp>
      <p:pic>
        <p:nvPicPr>
          <p:cNvPr id="99" name="Image 9" descr="preencoded.png">
            <a:extLst>
              <a:ext uri="{FF2B5EF4-FFF2-40B4-BE49-F238E27FC236}">
                <a16:creationId xmlns:a16="http://schemas.microsoft.com/office/drawing/2014/main" id="{072342A5-1BA8-2358-BAE1-21B0FAEF2EF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86844" y="7525914"/>
            <a:ext cx="262096" cy="262096"/>
          </a:xfrm>
          <a:prstGeom prst="rect">
            <a:avLst/>
          </a:prstGeom>
        </p:spPr>
      </p:pic>
      <p:sp>
        <p:nvSpPr>
          <p:cNvPr id="100" name="Text 32">
            <a:extLst>
              <a:ext uri="{FF2B5EF4-FFF2-40B4-BE49-F238E27FC236}">
                <a16:creationId xmlns:a16="http://schemas.microsoft.com/office/drawing/2014/main" id="{2B675010-1295-098E-853A-FEAD2E4987A3}"/>
              </a:ext>
            </a:extLst>
          </p:cNvPr>
          <p:cNvSpPr/>
          <p:nvPr/>
        </p:nvSpPr>
        <p:spPr>
          <a:xfrm>
            <a:off x="-3565357" y="8215630"/>
            <a:ext cx="10047758" cy="320089"/>
          </a:xfrm>
          <a:prstGeom prst="rect">
            <a:avLst/>
          </a:prstGeom>
          <a:noFill/>
          <a:ln/>
        </p:spPr>
        <p:txBody>
          <a:bodyPr wrap="square" lIns="40646" tIns="40646" rIns="40646" bIns="40646" rtlCol="0" anchor="t">
            <a:normAutofit/>
          </a:bodyPr>
          <a:lstStyle/>
          <a:p>
            <a:r>
              <a:rPr lang="en-US" sz="1501" b="1" dirty="0">
                <a:solidFill>
                  <a:srgbClr val="0E7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 → bit.ly/slint-ai-workshop</a:t>
            </a:r>
            <a:endParaRPr lang="en-US" sz="1501" dirty="0"/>
          </a:p>
        </p:txBody>
      </p:sp>
      <p:sp>
        <p:nvSpPr>
          <p:cNvPr id="101" name="Text 33">
            <a:extLst>
              <a:ext uri="{FF2B5EF4-FFF2-40B4-BE49-F238E27FC236}">
                <a16:creationId xmlns:a16="http://schemas.microsoft.com/office/drawing/2014/main" id="{664E5E52-0AED-8202-75CE-C2A26FA131DC}"/>
              </a:ext>
            </a:extLst>
          </p:cNvPr>
          <p:cNvSpPr/>
          <p:nvPr/>
        </p:nvSpPr>
        <p:spPr>
          <a:xfrm>
            <a:off x="-3565357" y="8566204"/>
            <a:ext cx="10047758" cy="312469"/>
          </a:xfrm>
          <a:prstGeom prst="rect">
            <a:avLst/>
          </a:prstGeom>
          <a:noFill/>
          <a:ln/>
        </p:spPr>
        <p:txBody>
          <a:bodyPr wrap="square" lIns="40646" tIns="40646" rIns="40646" bIns="40646" rtlCol="0" anchor="t">
            <a:normAutofit/>
          </a:bodyPr>
          <a:lstStyle/>
          <a:p>
            <a:r>
              <a:rPr lang="en-US" sz="1440" b="1" dirty="0">
                <a:solidFill>
                  <a:srgbClr val="6BA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r>
              <a:rPr lang="en-US" sz="1440" b="1" dirty="0">
                <a:solidFill>
                  <a:srgbClr val="5E7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members ·</a:t>
            </a:r>
            <a:r>
              <a:rPr lang="en-US" sz="1440" b="1" dirty="0">
                <a:solidFill>
                  <a:srgbClr val="10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</a:t>
            </a:r>
            <a:r>
              <a:rPr lang="en-US" sz="1440" b="1" dirty="0">
                <a:solidFill>
                  <a:srgbClr val="5E7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non-members · Zoom link emailed after verification.</a:t>
            </a:r>
            <a:endParaRPr lang="en-US" sz="1440" dirty="0"/>
          </a:p>
        </p:txBody>
      </p:sp>
      <p:sp>
        <p:nvSpPr>
          <p:cNvPr id="102" name="Shape 34">
            <a:extLst>
              <a:ext uri="{FF2B5EF4-FFF2-40B4-BE49-F238E27FC236}">
                <a16:creationId xmlns:a16="http://schemas.microsoft.com/office/drawing/2014/main" id="{95C2EC29-C087-5896-CD0D-D3DEA34573ED}"/>
              </a:ext>
            </a:extLst>
          </p:cNvPr>
          <p:cNvSpPr/>
          <p:nvPr/>
        </p:nvSpPr>
        <p:spPr>
          <a:xfrm>
            <a:off x="-3565357" y="9061580"/>
            <a:ext cx="9755105" cy="22864"/>
          </a:xfrm>
          <a:prstGeom prst="rect">
            <a:avLst/>
          </a:prstGeom>
          <a:solidFill>
            <a:srgbClr val="EAF1F6"/>
          </a:solidFill>
          <a:ln/>
        </p:spPr>
        <p:txBody>
          <a:bodyPr/>
          <a:lstStyle/>
          <a:p>
            <a:endParaRPr lang="en-US" sz="2880"/>
          </a:p>
        </p:txBody>
      </p:sp>
      <p:sp>
        <p:nvSpPr>
          <p:cNvPr id="103" name="Text 35">
            <a:extLst>
              <a:ext uri="{FF2B5EF4-FFF2-40B4-BE49-F238E27FC236}">
                <a16:creationId xmlns:a16="http://schemas.microsoft.com/office/drawing/2014/main" id="{1F62B4DD-D078-5E5C-D6CD-DB437E785CE5}"/>
              </a:ext>
            </a:extLst>
          </p:cNvPr>
          <p:cNvSpPr/>
          <p:nvPr/>
        </p:nvSpPr>
        <p:spPr>
          <a:xfrm>
            <a:off x="-3565357" y="9267352"/>
            <a:ext cx="4084950" cy="289605"/>
          </a:xfrm>
          <a:prstGeom prst="rect">
            <a:avLst/>
          </a:prstGeom>
          <a:noFill/>
          <a:ln/>
        </p:spPr>
        <p:txBody>
          <a:bodyPr wrap="square" lIns="40646" tIns="40646" rIns="40646" bIns="40646" rtlCol="0" anchor="t">
            <a:normAutofit/>
          </a:bodyPr>
          <a:lstStyle/>
          <a:p>
            <a:r>
              <a:rPr lang="en-US" sz="1320" b="1" dirty="0">
                <a:solidFill>
                  <a:srgbClr val="5E7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Co-organized by</a:t>
            </a:r>
            <a:r>
              <a:rPr lang="en-US" sz="1320" b="1" dirty="0">
                <a:solidFill>
                  <a:srgbClr val="10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Cecil John</a:t>
            </a:r>
            <a:r>
              <a:rPr lang="en-US" sz="1320" b="1" dirty="0">
                <a:solidFill>
                  <a:srgbClr val="5E7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the SLINT Executive</a:t>
            </a:r>
            <a:endParaRPr lang="en-US" sz="1320" dirty="0"/>
          </a:p>
        </p:txBody>
      </p:sp>
      <p:sp>
        <p:nvSpPr>
          <p:cNvPr id="104" name="Text 36">
            <a:extLst>
              <a:ext uri="{FF2B5EF4-FFF2-40B4-BE49-F238E27FC236}">
                <a16:creationId xmlns:a16="http://schemas.microsoft.com/office/drawing/2014/main" id="{6F7734B5-AE04-3AE7-92D6-EB31BF50DE8D}"/>
              </a:ext>
            </a:extLst>
          </p:cNvPr>
          <p:cNvSpPr/>
          <p:nvPr/>
        </p:nvSpPr>
        <p:spPr>
          <a:xfrm>
            <a:off x="5254131" y="9271161"/>
            <a:ext cx="1057557" cy="281983"/>
          </a:xfrm>
          <a:prstGeom prst="rect">
            <a:avLst/>
          </a:prstGeom>
          <a:noFill/>
          <a:ln/>
        </p:spPr>
        <p:txBody>
          <a:bodyPr wrap="square" lIns="40646" tIns="40646" rIns="40646" bIns="40646" rtlCol="0" anchor="t">
            <a:normAutofit lnSpcReduction="10000"/>
          </a:bodyPr>
          <a:lstStyle/>
          <a:p>
            <a:r>
              <a:rPr lang="en-US" sz="1320" b="1" kern="0" spc="27" dirty="0">
                <a:solidFill>
                  <a:srgbClr val="10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slint.org</a:t>
            </a:r>
            <a:endParaRPr lang="en-US" sz="1320" dirty="0"/>
          </a:p>
        </p:txBody>
      </p:sp>
      <p:sp>
        <p:nvSpPr>
          <p:cNvPr id="105" name="Shape 37">
            <a:extLst>
              <a:ext uri="{FF2B5EF4-FFF2-40B4-BE49-F238E27FC236}">
                <a16:creationId xmlns:a16="http://schemas.microsoft.com/office/drawing/2014/main" id="{640EEBC9-7508-B2C8-82D8-977C804B94BE}"/>
              </a:ext>
            </a:extLst>
          </p:cNvPr>
          <p:cNvSpPr/>
          <p:nvPr/>
        </p:nvSpPr>
        <p:spPr>
          <a:xfrm>
            <a:off x="7028875" y="2"/>
            <a:ext cx="7260830" cy="10288588"/>
          </a:xfrm>
          <a:prstGeom prst="rect">
            <a:avLst/>
          </a:prstGeom>
          <a:solidFill>
            <a:srgbClr val="102A41"/>
          </a:solidFill>
          <a:ln/>
        </p:spPr>
        <p:txBody>
          <a:bodyPr/>
          <a:lstStyle/>
          <a:p>
            <a:endParaRPr lang="en-US" sz="2880"/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599974C2-4585-EF82-EF3A-4448FEB3C524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11949"/>
          <a:stretch>
            <a:fillRect/>
          </a:stretch>
        </p:blipFill>
        <p:spPr>
          <a:xfrm>
            <a:off x="7038755" y="5478"/>
            <a:ext cx="7260830" cy="10307642"/>
          </a:xfrm>
          <a:prstGeom prst="rect">
            <a:avLst/>
          </a:prstGeom>
        </p:spPr>
      </p:pic>
      <p:sp>
        <p:nvSpPr>
          <p:cNvPr id="107" name="Shape 38">
            <a:extLst>
              <a:ext uri="{FF2B5EF4-FFF2-40B4-BE49-F238E27FC236}">
                <a16:creationId xmlns:a16="http://schemas.microsoft.com/office/drawing/2014/main" id="{F25D6338-1554-2A4B-450F-E57E828AF415}"/>
              </a:ext>
            </a:extLst>
          </p:cNvPr>
          <p:cNvSpPr/>
          <p:nvPr/>
        </p:nvSpPr>
        <p:spPr>
          <a:xfrm>
            <a:off x="7028873" y="38876"/>
            <a:ext cx="7249393" cy="10274244"/>
          </a:xfrm>
          <a:prstGeom prst="rect">
            <a:avLst/>
          </a:prstGeom>
          <a:solidFill>
            <a:srgbClr val="102A41">
              <a:alpha val="43000"/>
            </a:srgbClr>
          </a:solidFill>
          <a:ln/>
        </p:spPr>
        <p:txBody>
          <a:bodyPr/>
          <a:lstStyle/>
          <a:p>
            <a:endParaRPr lang="en-US" sz="2880" dirty="0"/>
          </a:p>
        </p:txBody>
      </p:sp>
      <p:sp>
        <p:nvSpPr>
          <p:cNvPr id="108" name="Text 39">
            <a:extLst>
              <a:ext uri="{FF2B5EF4-FFF2-40B4-BE49-F238E27FC236}">
                <a16:creationId xmlns:a16="http://schemas.microsoft.com/office/drawing/2014/main" id="{4B28B751-7037-971F-C704-25EC7AD4C4A0}"/>
              </a:ext>
            </a:extLst>
          </p:cNvPr>
          <p:cNvSpPr/>
          <p:nvPr/>
        </p:nvSpPr>
        <p:spPr>
          <a:xfrm>
            <a:off x="7705009" y="7732637"/>
            <a:ext cx="1187831" cy="266742"/>
          </a:xfrm>
          <a:prstGeom prst="rect">
            <a:avLst/>
          </a:prstGeom>
          <a:noFill/>
          <a:ln/>
        </p:spPr>
        <p:txBody>
          <a:bodyPr wrap="square" lIns="40646" tIns="40646" rIns="40646" bIns="40646" rtlCol="0" anchor="t">
            <a:normAutofit lnSpcReduction="10000"/>
          </a:bodyPr>
          <a:lstStyle/>
          <a:p>
            <a:r>
              <a:rPr lang="en-US" sz="1261" b="1" kern="0" spc="176" dirty="0">
                <a:solidFill>
                  <a:srgbClr val="8FD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HOSTED BY</a:t>
            </a:r>
            <a:endParaRPr lang="en-US" sz="1261" dirty="0"/>
          </a:p>
        </p:txBody>
      </p:sp>
      <p:sp>
        <p:nvSpPr>
          <p:cNvPr id="109" name="Text 40">
            <a:extLst>
              <a:ext uri="{FF2B5EF4-FFF2-40B4-BE49-F238E27FC236}">
                <a16:creationId xmlns:a16="http://schemas.microsoft.com/office/drawing/2014/main" id="{5EC346CB-0580-9E66-663D-58EC0DB6CA08}"/>
              </a:ext>
            </a:extLst>
          </p:cNvPr>
          <p:cNvSpPr/>
          <p:nvPr/>
        </p:nvSpPr>
        <p:spPr>
          <a:xfrm>
            <a:off x="7705009" y="8045106"/>
            <a:ext cx="6405446" cy="525862"/>
          </a:xfrm>
          <a:prstGeom prst="rect">
            <a:avLst/>
          </a:prstGeom>
          <a:noFill/>
          <a:ln/>
        </p:spPr>
        <p:txBody>
          <a:bodyPr wrap="square" lIns="40646" tIns="40646" rIns="40646" bIns="40646" rtlCol="0" anchor="t">
            <a:normAutofit/>
          </a:bodyPr>
          <a:lstStyle/>
          <a:p>
            <a:r>
              <a:rPr lang="en-US" sz="2880" b="1" kern="0" spc="-2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Tamba Sheku Lamin</a:t>
            </a:r>
            <a:endParaRPr lang="en-US" sz="2880" dirty="0"/>
          </a:p>
        </p:txBody>
      </p:sp>
      <p:sp>
        <p:nvSpPr>
          <p:cNvPr id="110" name="Text 41">
            <a:extLst>
              <a:ext uri="{FF2B5EF4-FFF2-40B4-BE49-F238E27FC236}">
                <a16:creationId xmlns:a16="http://schemas.microsoft.com/office/drawing/2014/main" id="{C1CBD06F-4C4D-AB46-E479-991A988B5147}"/>
              </a:ext>
            </a:extLst>
          </p:cNvPr>
          <p:cNvSpPr/>
          <p:nvPr/>
        </p:nvSpPr>
        <p:spPr>
          <a:xfrm>
            <a:off x="7705009" y="8570967"/>
            <a:ext cx="6405446" cy="335332"/>
          </a:xfrm>
          <a:prstGeom prst="rect">
            <a:avLst/>
          </a:prstGeom>
          <a:noFill/>
          <a:ln/>
        </p:spPr>
        <p:txBody>
          <a:bodyPr wrap="square" lIns="40646" tIns="40646" rIns="40646" bIns="40646" rtlCol="0" anchor="t">
            <a:normAutofit/>
          </a:bodyPr>
          <a:lstStyle/>
          <a:p>
            <a:r>
              <a:rPr lang="en-US" sz="1560" b="1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Former President, SLINT</a:t>
            </a:r>
            <a:endParaRPr lang="en-US" sz="1560" dirty="0"/>
          </a:p>
        </p:txBody>
      </p:sp>
      <p:sp>
        <p:nvSpPr>
          <p:cNvPr id="111" name="Text 42">
            <a:extLst>
              <a:ext uri="{FF2B5EF4-FFF2-40B4-BE49-F238E27FC236}">
                <a16:creationId xmlns:a16="http://schemas.microsoft.com/office/drawing/2014/main" id="{6E5B9108-DC86-43FE-5B96-78EF5E70F3D2}"/>
              </a:ext>
            </a:extLst>
          </p:cNvPr>
          <p:cNvSpPr/>
          <p:nvPr/>
        </p:nvSpPr>
        <p:spPr>
          <a:xfrm>
            <a:off x="7705009" y="8952025"/>
            <a:ext cx="6405446" cy="551583"/>
          </a:xfrm>
          <a:prstGeom prst="rect">
            <a:avLst/>
          </a:prstGeom>
          <a:noFill/>
          <a:ln/>
        </p:spPr>
        <p:txBody>
          <a:bodyPr wrap="square" lIns="40646" tIns="40646" rIns="40646" bIns="40646" rtlCol="0" anchor="t">
            <a:normAutofit fontScale="92500" lnSpcReduction="20000"/>
          </a:bodyPr>
          <a:lstStyle/>
          <a:p>
            <a:pPr>
              <a:lnSpc>
                <a:spcPct val="140000"/>
              </a:lnSpc>
            </a:pPr>
            <a:r>
              <a:rPr lang="en-US" sz="1381" b="1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Co-Founder &amp; Group CEO, TpGROUP (SL) Ltd · Sr. Technology Architect / FDE @ Accenture Song</a:t>
            </a:r>
            <a:endParaRPr lang="en-US" sz="1381" dirty="0"/>
          </a:p>
        </p:txBody>
      </p:sp>
      <p:pic>
        <p:nvPicPr>
          <p:cNvPr id="112" name="Image 11" descr="preencoded.png">
            <a:extLst>
              <a:ext uri="{FF2B5EF4-FFF2-40B4-BE49-F238E27FC236}">
                <a16:creationId xmlns:a16="http://schemas.microsoft.com/office/drawing/2014/main" id="{212DAD3D-FBE6-9631-17F9-78451EB5CF4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05009" y="9648410"/>
            <a:ext cx="213393" cy="213393"/>
          </a:xfrm>
          <a:prstGeom prst="rect">
            <a:avLst/>
          </a:prstGeom>
        </p:spPr>
      </p:pic>
      <p:sp>
        <p:nvSpPr>
          <p:cNvPr id="113" name="Text 43">
            <a:extLst>
              <a:ext uri="{FF2B5EF4-FFF2-40B4-BE49-F238E27FC236}">
                <a16:creationId xmlns:a16="http://schemas.microsoft.com/office/drawing/2014/main" id="{132E2A97-96E2-812A-D5E5-9DB4FA8C16AC}"/>
              </a:ext>
            </a:extLst>
          </p:cNvPr>
          <p:cNvSpPr/>
          <p:nvPr/>
        </p:nvSpPr>
        <p:spPr>
          <a:xfrm>
            <a:off x="8025098" y="9640790"/>
            <a:ext cx="2856393" cy="289605"/>
          </a:xfrm>
          <a:prstGeom prst="rect">
            <a:avLst/>
          </a:prstGeom>
          <a:noFill/>
          <a:ln/>
        </p:spPr>
        <p:txBody>
          <a:bodyPr wrap="square" lIns="40646" tIns="40646" rIns="40646" bIns="40646" rtlCol="0" anchor="t">
            <a:normAutofit lnSpcReduction="10000"/>
          </a:bodyPr>
          <a:lstStyle/>
          <a:p>
            <a:r>
              <a:rPr lang="en-US" sz="1381" b="1" dirty="0">
                <a:solidFill>
                  <a:srgbClr val="8FD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linkedin.com/in/tambalamin</a:t>
            </a:r>
            <a:endParaRPr lang="en-US" sz="138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128</Words>
  <Application>Microsoft Macintosh PowerPoint</Application>
  <PresentationFormat>Custom</PresentationFormat>
  <Paragraphs>31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Courier New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Tamba S. Lamin</cp:lastModifiedBy>
  <cp:revision>3</cp:revision>
  <dcterms:created xsi:type="dcterms:W3CDTF">2026-05-30T23:42:19Z</dcterms:created>
  <dcterms:modified xsi:type="dcterms:W3CDTF">2026-05-30T23:52:56Z</dcterms:modified>
</cp:coreProperties>
</file>